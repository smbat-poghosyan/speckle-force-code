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6" r:id="rId6"/>
    <p:sldId id="263" r:id="rId7"/>
    <p:sldId id="262" r:id="rId8"/>
    <p:sldId id="265" r:id="rId9"/>
    <p:sldId id="269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276" r:id="rId19"/>
    <p:sldId id="275" r:id="rId20"/>
    <p:sldId id="260" r:id="rId21"/>
    <p:sldId id="272" r:id="rId22"/>
    <p:sldId id="287" r:id="rId23"/>
    <p:sldId id="270" r:id="rId24"/>
    <p:sldId id="273" r:id="rId25"/>
    <p:sldId id="274" r:id="rId26"/>
    <p:sldId id="277" r:id="rId27"/>
    <p:sldId id="278" r:id="rId28"/>
    <p:sldId id="279" r:id="rId29"/>
    <p:sldId id="280" r:id="rId30"/>
    <p:sldId id="281" r:id="rId31"/>
    <p:sldId id="282" r:id="rId32"/>
    <p:sldId id="284" r:id="rId33"/>
    <p:sldId id="283" r:id="rId34"/>
    <p:sldId id="285" r:id="rId35"/>
    <p:sldId id="286" r:id="rId36"/>
    <p:sldId id="288" r:id="rId37"/>
    <p:sldId id="289" r:id="rId38"/>
    <p:sldId id="290" r:id="rId39"/>
    <p:sldId id="302" r:id="rId40"/>
    <p:sldId id="304" r:id="rId41"/>
    <p:sldId id="300" r:id="rId42"/>
    <p:sldId id="301" r:id="rId43"/>
    <p:sldId id="303" r:id="rId44"/>
    <p:sldId id="291" r:id="rId45"/>
    <p:sldId id="271" r:id="rId46"/>
    <p:sldId id="267" r:id="rId47"/>
    <p:sldId id="268" r:id="rId48"/>
    <p:sldId id="26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4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3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76.xml"/><Relationship Id="rId3" Type="http://schemas.openxmlformats.org/officeDocument/2006/relationships/image" Target="../media/image8.png"/><Relationship Id="rId2" Type="http://schemas.openxmlformats.org/officeDocument/2006/relationships/tags" Target="../tags/tag7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tags" Target="../tags/tag79.xml"/><Relationship Id="rId2" Type="http://schemas.openxmlformats.org/officeDocument/2006/relationships/image" Target="../media/image13.png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20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21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22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23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3" Type="http://schemas.openxmlformats.org/officeDocument/2006/relationships/image" Target="../media/image24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25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Relationship Id="rId3" Type="http://schemas.openxmlformats.org/officeDocument/2006/relationships/image" Target="../media/image26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image" Target="../media/image27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Relationship Id="rId3" Type="http://schemas.openxmlformats.org/officeDocument/2006/relationships/image" Target="../media/image28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5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image" Target="../media/image31.png"/><Relationship Id="rId1" Type="http://schemas.openxmlformats.org/officeDocument/2006/relationships/tags" Target="../tags/tag116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0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image" Target="../media/image34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9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2.xml"/><Relationship Id="rId3" Type="http://schemas.openxmlformats.org/officeDocument/2006/relationships/image" Target="../media/image38.png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5.xml"/><Relationship Id="rId3" Type="http://schemas.openxmlformats.org/officeDocument/2006/relationships/image" Target="../media/image39.png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8.xml"/><Relationship Id="rId3" Type="http://schemas.openxmlformats.org/officeDocument/2006/relationships/image" Target="../media/image40.png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1.xml"/><Relationship Id="rId3" Type="http://schemas.openxmlformats.org/officeDocument/2006/relationships/image" Target="../media/image41.png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4.xml"/><Relationship Id="rId3" Type="http://schemas.openxmlformats.org/officeDocument/2006/relationships/image" Target="../media/image42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3" Type="http://schemas.openxmlformats.org/officeDocument/2006/relationships/image" Target="../media/image43.pn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0.xml"/><Relationship Id="rId3" Type="http://schemas.openxmlformats.org/officeDocument/2006/relationships/image" Target="../media/image44.png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3.xml"/><Relationship Id="rId3" Type="http://schemas.openxmlformats.org/officeDocument/2006/relationships/image" Target="../media/image45.png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6.xml"/><Relationship Id="rId3" Type="http://schemas.openxmlformats.org/officeDocument/2006/relationships/image" Target="../media/image46.png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59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2.xml"/><Relationship Id="rId3" Type="http://schemas.openxmlformats.org/officeDocument/2006/relationships/image" Target="../media/image52.png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3" Type="http://schemas.openxmlformats.org/officeDocument/2006/relationships/image" Target="../media/image53.png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8.xml"/><Relationship Id="rId3" Type="http://schemas.openxmlformats.org/officeDocument/2006/relationships/image" Target="../media/image54.png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Relationship Id="rId3" Type="http://schemas.openxmlformats.org/officeDocument/2006/relationships/image" Target="../media/image55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4.xml"/><Relationship Id="rId3" Type="http://schemas.openxmlformats.org/officeDocument/2006/relationships/image" Target="../media/image56.png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7.xml"/><Relationship Id="rId3" Type="http://schemas.openxmlformats.org/officeDocument/2006/relationships/image" Target="../media/image57.png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0.xml"/><Relationship Id="rId3" Type="http://schemas.openxmlformats.org/officeDocument/2006/relationships/image" Target="../media/image58.png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3.xml"/><Relationship Id="rId3" Type="http://schemas.openxmlformats.org/officeDocument/2006/relationships/image" Target="../media/image59.png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Relationship Id="rId3" Type="http://schemas.openxmlformats.org/officeDocument/2006/relationships/image" Target="../media/image60.png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9.xml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98.xml"/><Relationship Id="rId5" Type="http://schemas.openxmlformats.org/officeDocument/2006/relationships/hyperlink" Target="https://doi.org/10.3390/data11090240" TargetMode="External"/><Relationship Id="rId4" Type="http://schemas.openxmlformats.org/officeDocument/2006/relationships/hyperlink" Target="https://doi.org/10.5281/zenodo.19366118" TargetMode="External"/><Relationship Id="rId3" Type="http://schemas.openxmlformats.org/officeDocument/2006/relationships/image" Target="../media/image63.png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39750" y="1480185"/>
            <a:ext cx="11652250" cy="2570480"/>
          </a:xfrm>
        </p:spPr>
        <p:txBody>
          <a:bodyPr>
            <a:normAutofit/>
          </a:bodyPr>
          <a:p>
            <a:pPr algn="l"/>
            <a:r>
              <a:rPr lang="en-US" altLang="en-US" sz="3200">
                <a:latin typeface="Cambria Math" panose="02040503050406030204" charset="0"/>
                <a:cs typeface="Cambria Math" panose="02040503050406030204" charset="0"/>
              </a:rPr>
              <a:t>Մեքենայական ուսուցման</a:t>
            </a:r>
            <a:r>
              <a:rPr lang="en-US" sz="3200">
                <a:latin typeface="Cambria Math" panose="02040503050406030204" charset="0"/>
                <a:cs typeface="Cambria Math" panose="02040503050406030204" charset="0"/>
              </a:rPr>
              <a:t> կիրառումը օպտիկական մանրաթելով ստացվող բազմամոդային ինտերֆերենցի վերլուծության մեջ</a:t>
            </a:r>
            <a:endParaRPr lang="en-US" sz="320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85440" y="4749120"/>
            <a:ext cx="9799200" cy="1472400"/>
          </a:xfrm>
        </p:spPr>
        <p:txBody>
          <a:bodyPr>
            <a:normAutofit lnSpcReduction="10000"/>
          </a:bodyPr>
          <a:p>
            <a:r>
              <a:rPr lang="en-US" altLang="en-US" sz="2000">
                <a:latin typeface="Cambria Math" panose="02040503050406030204" charset="0"/>
                <a:cs typeface="Cambria Math" panose="02040503050406030204" charset="0"/>
              </a:rPr>
              <a:t>Սմբատ Պողոսյան</a:t>
            </a:r>
            <a:endParaRPr lang="en-US" altLang="en-US" sz="2000"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en-US" sz="2000">
                <a:latin typeface="Cambria Math" panose="02040503050406030204" charset="0"/>
                <a:cs typeface="Cambria Math" panose="02040503050406030204" charset="0"/>
              </a:rPr>
              <a:t>ԵՊՀ, ֆիզիկայի ինստիտու</a:t>
            </a:r>
            <a:r>
              <a:rPr lang="en-US" altLang="en-US" sz="2000">
                <a:latin typeface="Cambria Math" panose="02040503050406030204" charset="0"/>
                <a:cs typeface="Cambria Math" panose="02040503050406030204" charset="0"/>
              </a:rPr>
              <a:t>տ</a:t>
            </a:r>
            <a:endParaRPr lang="en-US" altLang="en-US" sz="2000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33375" y="285115"/>
            <a:ext cx="2506345" cy="1473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0432415" y="285115"/>
            <a:ext cx="1282700" cy="12719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1.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Թեմայի արդիականությունը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55" y="1921510"/>
            <a:ext cx="6256020" cy="351980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88150" y="1662430"/>
            <a:ext cx="5403850" cy="3587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Cambria Math" panose="02040503050406030204" charset="0"/>
                <a:cs typeface="Cambria Math" panose="02040503050406030204" charset="0"/>
              </a:rPr>
              <a:t>Օպտիկական մանրաթելերը  օգտագործվում են</a:t>
            </a:r>
            <a:endParaRPr lang="en-US" altLang="en-US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Վիրահատություններում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Հանքարդյունաբերության մեջ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Ինքնաթիռների նավիգացիայում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Շենքերի, թունելների և կամուրջների 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pPr marL="342900" indent="-342900">
              <a:buFont typeface="Wingdings" panose="05000000000000000000" charset="0"/>
              <a:buChar char="v"/>
            </a:pP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ru-RU">
                <a:latin typeface="Cambria Math" panose="02040503050406030204" charset="0"/>
                <a:cs typeface="Cambria Math" panose="02040503050406030204" charset="0"/>
              </a:rPr>
              <a:t>2</a:t>
            </a:r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.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Հետազոտության նպատակը և ա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  <a:sym typeface="+mn-ea"/>
              </a:rPr>
              <a:t>ռաջարկվող մեթոդները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637780" y="1490345"/>
            <a:ext cx="4712335" cy="4759325"/>
          </a:xfrm>
        </p:spPr>
        <p:txBody>
          <a:bodyPr/>
          <a:p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Օգտագործելով փորձի տվյալների բազան՝ համոզվել առաջարկվող մեթոդների  արդյունավետության մեջ։</a:t>
            </a:r>
            <a:endParaRPr lang="en-US"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Համեմատել և վերլուծել ստացված արդյունքները ՝ փոխելով նախնական պարամետրերը</a:t>
            </a:r>
            <a:endParaRPr lang="en-US"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Փորձել ուսումնասիրել խնդիրը օգտագործելով </a:t>
            </a:r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CNN</a:t>
            </a:r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-ների հնարավորությունները</a:t>
            </a:r>
            <a:endParaRPr lang="en-US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80975" y="1724660"/>
            <a:ext cx="7457440" cy="36220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3.Խնդրի դրվածքը</a:t>
            </a:r>
            <a:endParaRPr 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2890" y="4410710"/>
            <a:ext cx="4258945" cy="70485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  </a:t>
            </a:r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Բազմամոդային մանրաթել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 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        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                       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8239760" y="1614805"/>
            <a:ext cx="3799840" cy="26130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864600" y="4363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  <a:sym typeface="+mn-ea"/>
              </a:rPr>
              <a:t>ֆոտոէլաստիկություն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4"/>
          <a:srcRect l="1517" t="954" r="3475" b="3836"/>
          <a:stretch>
            <a:fillRect/>
          </a:stretch>
        </p:blipFill>
        <p:spPr>
          <a:xfrm>
            <a:off x="5140325" y="1614805"/>
            <a:ext cx="2964815" cy="260350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5862955" y="4410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լուսային սպեկլ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rcRect r="2892"/>
          <a:stretch>
            <a:fillRect/>
          </a:stretch>
        </p:blipFill>
        <p:spPr>
          <a:xfrm>
            <a:off x="108585" y="1487805"/>
            <a:ext cx="4897120" cy="27489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62890" y="5289550"/>
            <a:ext cx="117767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ambria Math" panose="02040503050406030204" charset="0"/>
                <a:cs typeface="Cambria Math" panose="02040503050406030204" charset="0"/>
              </a:rPr>
              <a:t>Նյութի մեխանիկական դեֆորմացիաները բերում են դրա օպտիկական հատկությունների փոփոխության, որն էլ կարելի է գրանցել դիտելով մանրաթելում տարածվող  տարբեր մոդաների ինտերֆերենցիոն պատկերի փոփոխությունը</a:t>
            </a:r>
            <a:endParaRPr lang="en-US" sz="24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3.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Խնդրի դրվածքը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1630" y="1764030"/>
            <a:ext cx="3467735" cy="1157605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08115" y="1313815"/>
            <a:ext cx="4687570" cy="49034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30" y="3154680"/>
            <a:ext cx="5754370" cy="927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630" y="4314825"/>
            <a:ext cx="4499610" cy="9264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30" y="5474335"/>
            <a:ext cx="5175885" cy="8801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3.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Խնդրի դրվածքը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60" y="1583690"/>
            <a:ext cx="5803265" cy="248793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0375" y="1546225"/>
            <a:ext cx="5635625" cy="25253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785" y="4341495"/>
            <a:ext cx="7759065" cy="22313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10280"/>
            <a:ext cx="10969200" cy="705600"/>
          </a:xfrm>
        </p:spPr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4. </a:t>
            </a:r>
            <a:r>
              <a:rPr lang="en-US" altLang="ru-RU">
                <a:latin typeface="Cambria Math" panose="02040503050406030204" charset="0"/>
                <a:cs typeface="Cambria Math" panose="02040503050406030204" charset="0"/>
              </a:rPr>
              <a:t>Փորձնական տվյալներ</a:t>
            </a:r>
            <a:r>
              <a:rPr lang="en-US" altLang="ru-RU">
                <a:latin typeface="Cambria Math" panose="02040503050406030204" charset="0"/>
                <a:cs typeface="Cambria Math" panose="02040503050406030204" charset="0"/>
              </a:rPr>
              <a:t>ը</a:t>
            </a:r>
            <a:endParaRPr lang="en-US" altLang="ru-RU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000" y="1192530"/>
            <a:ext cx="5709285" cy="30937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285" y="1285875"/>
            <a:ext cx="6089650" cy="30003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99110" y="5039995"/>
            <a:ext cx="11692890" cy="203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Cambria Math" panose="02040503050406030204" charset="0"/>
                <a:cs typeface="Cambria Math" panose="02040503050406030204" charset="0"/>
              </a:rPr>
              <a:t>3 ուժերից յուրաքանչյուր երկուսը կոռելացված են։ Փիրսոն</a:t>
            </a:r>
            <a:r>
              <a:rPr lang="en-US" altLang="en-US" sz="2400">
                <a:latin typeface="Cambria Math" panose="02040503050406030204" charset="0"/>
                <a:cs typeface="Cambria Math" panose="02040503050406030204" charset="0"/>
              </a:rPr>
              <a:t>ի</a:t>
            </a:r>
            <a:r>
              <a:rPr lang="en-US" altLang="en-US" sz="2400">
                <a:latin typeface="Cambria Math" panose="02040503050406030204" charset="0"/>
                <a:cs typeface="Cambria Math" panose="02040503050406030204" charset="0"/>
              </a:rPr>
              <a:t> գործակիցները տատանվում են 0,941-0,958 ,  (Սփիրմանի գործակիցները 0.945-0.967) միջակայքում ամբողջ տվյալների դեպքում, իսկ կոնկրետ acquisition set-ի դեպքում 0,971-1,000</a:t>
            </a:r>
            <a:endParaRPr lang="en-US" altLang="en-US" sz="24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10280"/>
            <a:ext cx="10969200" cy="705600"/>
          </a:xfrm>
        </p:spPr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4. </a:t>
            </a:r>
            <a:r>
              <a:rPr lang="en-US" altLang="ru-RU">
                <a:latin typeface="Cambria Math" panose="02040503050406030204" charset="0"/>
                <a:cs typeface="Cambria Math" panose="02040503050406030204" charset="0"/>
              </a:rPr>
              <a:t>Փորձնական տվյալներ</a:t>
            </a:r>
            <a:r>
              <a:rPr lang="en-US" altLang="ru-RU">
                <a:latin typeface="Cambria Math" panose="02040503050406030204" charset="0"/>
                <a:cs typeface="Cambria Math" panose="02040503050406030204" charset="0"/>
              </a:rPr>
              <a:t>ը</a:t>
            </a:r>
            <a:endParaRPr lang="en-US" altLang="ru-RU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95975" y="1391285"/>
            <a:ext cx="5909945" cy="203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2707005"/>
            <a:ext cx="3754120" cy="1140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624965"/>
            <a:ext cx="3669665" cy="9175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08330" y="4145280"/>
            <a:ext cx="6390005" cy="203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Քանի տեսակի թրեյնինգ է արվել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KNN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Random Forest 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/>
              <a:t>Ինչ տեսակի տվյալներ մեզ չի տրվել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Ինչ տեսակի </a:t>
            </a:r>
            <a:r>
              <a:rPr lang="en-US" altLang="en-US"/>
              <a:t>preprocessing</a:t>
            </a:r>
            <a:r>
              <a:rPr lang="en-US" altLang="en-US"/>
              <a:t>-ի են ենթարկվել նկարները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Կոնկրետ ինչ կոդեր են գրվել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3120" y="786765"/>
            <a:ext cx="10974070" cy="29787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ample_im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310" y="608330"/>
            <a:ext cx="11611610" cy="5805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records_per_s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490345"/>
            <a:ext cx="5486400" cy="3657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force_histogr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80" y="1577340"/>
            <a:ext cx="64008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force_box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196340"/>
            <a:ext cx="54864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5057775"/>
            <a:ext cx="10968990" cy="1191895"/>
          </a:xfrm>
        </p:spPr>
        <p:txBody>
          <a:bodyPr/>
          <a:p>
            <a:r>
              <a:rPr lang="" altLang="en-US"/>
              <a:t>Այսինքն քանի նկարահանված կադրերը շատանում են, ուժերն էլ գծային կերպով աճում են </a:t>
            </a:r>
            <a:endParaRPr lang="" altLang="en-US"/>
          </a:p>
        </p:txBody>
      </p:sp>
      <p:pic>
        <p:nvPicPr>
          <p:cNvPr id="4" name="Picture 3" descr="force_by_reco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0"/>
            <a:ext cx="64008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5262245"/>
            <a:ext cx="10968990" cy="987425"/>
          </a:xfrm>
        </p:spPr>
        <p:txBody>
          <a:bodyPr>
            <a:normAutofit/>
          </a:bodyPr>
          <a:p>
            <a:r>
              <a:rPr lang="" altLang="en-US"/>
              <a:t>Սա ցույց է տալիս որ ուժերը իրար հետ ինչքան շատ կոռելացված են</a:t>
            </a:r>
            <a:endParaRPr lang="" altLang="en-US"/>
          </a:p>
        </p:txBody>
      </p:sp>
      <p:pic>
        <p:nvPicPr>
          <p:cNvPr id="4" name="Picture 3" descr="force_correl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35" y="441325"/>
            <a:ext cx="5887720" cy="47104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force_by_s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80" y="1143000"/>
            <a:ext cx="73152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0885" y="1089025"/>
            <a:ext cx="10782300" cy="4602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140" y="90170"/>
            <a:ext cx="6049010" cy="46716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095" y="4982210"/>
            <a:ext cx="6590030" cy="15862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112000" y="213455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native-image preprocessing source code is not included</a:t>
            </a:r>
            <a:endParaRPr sz="1600"/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5.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Ստացված արդյունքների քննարկումը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651635"/>
            <a:ext cx="7787005" cy="21526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78560" y="4577080"/>
            <a:ext cx="105136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Ինչ է արվել</a:t>
            </a:r>
            <a:r>
              <a:rPr lang="en-US" sz="3200"/>
              <a:t>․</a:t>
            </a:r>
            <a:r>
              <a:rPr lang="en-US" sz="3200"/>
              <a:t>knn algorithm , k = 7 , weight = distance</a:t>
            </a:r>
            <a:endParaRPr lang="en-US" sz="3200"/>
          </a:p>
          <a:p>
            <a:r>
              <a:rPr lang="en-US" sz="3200" b="1"/>
              <a:t>Ինչ է ցույց տալիս</a:t>
            </a:r>
            <a:r>
              <a:rPr lang="en-US" sz="3200"/>
              <a:t>․ Այս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8775" y="485775"/>
            <a:ext cx="4032250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230" y="149860"/>
            <a:ext cx="5500370" cy="67075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5.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Ստացված արդյունքների քննարկումը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0265" y="2045335"/>
            <a:ext cx="7840980" cy="19919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7710" y="50342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Ինչ է արվել․</a:t>
            </a:r>
            <a:endParaRPr lang="en-US"/>
          </a:p>
          <a:p>
            <a:r>
              <a:rPr lang="en-US">
                <a:sym typeface="+mn-ea"/>
              </a:rPr>
              <a:t>Ինչ է ցույց տալիս․</a:t>
            </a:r>
            <a:endParaRPr 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635" y="0"/>
            <a:ext cx="4736465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0"/>
            <a:ext cx="4275455" cy="3429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465" y="3429635"/>
            <a:ext cx="5522595" cy="33083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7435" y="762000"/>
            <a:ext cx="9311005" cy="59366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92200" y="682625"/>
            <a:ext cx="8427720" cy="54933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9950" y="1435100"/>
            <a:ext cx="7449820" cy="1993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04265" y="1496060"/>
            <a:ext cx="8144510" cy="2494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7240" y="2106295"/>
            <a:ext cx="10273665" cy="26460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353060"/>
            <a:ext cx="5363845" cy="5733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499745"/>
            <a:ext cx="656844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-111760" y="0"/>
            <a:ext cx="12893675" cy="705485"/>
          </a:xfrm>
        </p:spPr>
        <p:txBody>
          <a:bodyPr>
            <a:normAutofit fontScale="90000"/>
          </a:bodyPr>
          <a:p>
            <a:r>
              <a:rPr lang="en-US" altLang="en-US"/>
              <a:t>CNN-код (PyTorch, frame-level, multi-output regression)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47800" y="728345"/>
            <a:ext cx="5797550" cy="60648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38550" y="1490345"/>
            <a:ext cx="49072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9555" y="307975"/>
            <a:ext cx="3581400" cy="2181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050" y="307975"/>
            <a:ext cx="360997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545" y="307975"/>
            <a:ext cx="3533775" cy="2133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30" y="3160395"/>
            <a:ext cx="3295650" cy="2152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9270" y="3160395"/>
            <a:ext cx="3724275" cy="23431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pred_vs_actual_CNN_reco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508760"/>
            <a:ext cx="10637520" cy="34366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ed_vs_actual_kNN_reco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08760"/>
            <a:ext cx="11887200" cy="3840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ed_vs_actual_RF_reco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78280"/>
            <a:ext cx="11887200" cy="3840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model_comparison_m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05" y="930910"/>
            <a:ext cx="7748905" cy="51657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8655" y="142310"/>
            <a:ext cx="10969200" cy="705600"/>
          </a:xfrm>
        </p:spPr>
        <p:txBody>
          <a:bodyPr/>
          <a:p>
            <a:r>
              <a:rPr lang="" altLang="en-US"/>
              <a:t>Իսկ հիմա անցնենք </a:t>
            </a:r>
            <a:r>
              <a:rPr lang="en-US" altLang="en-US"/>
              <a:t>LOSO-</a:t>
            </a:r>
            <a:r>
              <a:rPr lang="" altLang="en-US"/>
              <a:t>ին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oso_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" y="718820"/>
            <a:ext cx="9144000" cy="3657600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1107440" y="4653915"/>
          <a:ext cx="64236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220"/>
                <a:gridCol w="2141220"/>
                <a:gridCol w="21412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ym typeface="+mn-ea"/>
                        </a:rPr>
                        <a:t>model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ym typeface="+mn-ea"/>
                        </a:rPr>
                        <a:t>MAE   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ym typeface="+mn-ea"/>
                        </a:rPr>
                        <a:t>   </a:t>
                      </a:r>
                      <a:r>
                        <a:rPr lang="en-US" altLang="en-US">
                          <a:sym typeface="+mn-ea"/>
                        </a:rPr>
                        <a:t>   R2</a:t>
                      </a:r>
                      <a:endParaRPr lang="en-US"/>
                    </a:p>
                  </a:txBody>
                  <a:tcPr/>
                </a:tc>
              </a:tr>
              <a:tr h="338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kNN (LOSO)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0.2229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-0.6431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RF (LOSO)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0.1844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-0.2296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CNN (LOSO)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0.1796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-0.0328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5930" y="761365"/>
            <a:ext cx="6123305" cy="2290445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1628775" y="4376420"/>
          <a:ext cx="64236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220"/>
                <a:gridCol w="2141220"/>
                <a:gridCol w="21412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ym typeface="+mn-ea"/>
                        </a:rPr>
                        <a:t>model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ym typeface="+mn-ea"/>
                        </a:rPr>
                        <a:t>MAE   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>
                          <a:sym typeface="+mn-ea"/>
                        </a:rPr>
                        <a:t>   </a:t>
                      </a:r>
                      <a:r>
                        <a:rPr lang="en-US" altLang="en-US">
                          <a:sym typeface="+mn-ea"/>
                        </a:rPr>
                        <a:t>   R2</a:t>
                      </a:r>
                      <a:endParaRPr lang="en-US"/>
                    </a:p>
                  </a:txBody>
                  <a:tcPr/>
                </a:tc>
              </a:tr>
              <a:tr h="3384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kNN (LOSO)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0.2229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-0.6431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RF (LOSO)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0.1844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-0.2296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CNN (LOSO)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0.1796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-0.0328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ed_vs_actual_CNN_LO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140585"/>
            <a:ext cx="10705465" cy="34588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ed_vs_actual_kNN_LO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9880" y="1313815"/>
            <a:ext cx="11887200" cy="3840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pred_vs_actual_RF_LO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0345"/>
            <a:ext cx="11887200" cy="3840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93765" y="608330"/>
            <a:ext cx="5866130" cy="57264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3545"/>
            <a:ext cx="5865495" cy="21221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5.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Ստացված արդյունքների քննարկումը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6. </a:t>
            </a:r>
            <a:r>
              <a:rPr lang="en-US">
                <a:latin typeface="Cambria Math" panose="02040503050406030204" charset="0"/>
                <a:cs typeface="Cambria Math" panose="02040503050406030204" charset="0"/>
              </a:rPr>
              <a:t>Եզրակացություն և հետագա անելիքներ</a:t>
            </a:r>
            <a:endParaRPr 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Record level cross session-</a:t>
            </a:r>
            <a:r>
              <a:rPr lang=""/>
              <a:t>ի ժամանակ </a:t>
            </a:r>
            <a:endParaRPr lang=""/>
          </a:p>
          <a:p>
            <a:endParaRPr lang=""/>
          </a:p>
        </p:txBody>
      </p:sp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>
                <a:latin typeface="Cambria Math" panose="02040503050406030204" charset="0"/>
                <a:cs typeface="Cambria Math" panose="02040503050406030204" charset="0"/>
              </a:rPr>
              <a:t>7. </a:t>
            </a:r>
            <a:r>
              <a:rPr lang="en-US" altLang="en-US">
                <a:latin typeface="Cambria Math" panose="02040503050406030204" charset="0"/>
                <a:cs typeface="Cambria Math" panose="02040503050406030204" charset="0"/>
              </a:rPr>
              <a:t>Գրականություն</a:t>
            </a:r>
            <a:endParaRPr lang="en-US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45260"/>
            <a:ext cx="9671050" cy="42589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43280" y="5835650"/>
            <a:ext cx="60896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Dataset: </a:t>
            </a:r>
            <a:r>
              <a:rPr lang="en-US" altLang="en-US">
                <a:hlinkClick r:id="rId4" action="ppaction://hlinkfile"/>
              </a:rPr>
              <a:t>https://doi.org/10.5281/zenodo.19366118</a:t>
            </a:r>
            <a:endParaRPr lang="en-US" altLang="en-US"/>
          </a:p>
          <a:p>
            <a:r>
              <a:rPr lang="en-US" altLang="en-US"/>
              <a:t>Հոդված </a:t>
            </a:r>
            <a:r>
              <a:rPr lang="en-US" altLang="en-US">
                <a:hlinkClick r:id="rId5" action="ppaction://hlinkfile"/>
              </a:rPr>
              <a:t>https://doi.org/10.3390/data11090240</a:t>
            </a:r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accent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055495" y="2644775"/>
            <a:ext cx="80810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>
                <a:latin typeface="Cambria Math" panose="02040503050406030204" charset="0"/>
                <a:cs typeface="Cambria Math" panose="02040503050406030204" charset="0"/>
                <a:sym typeface="+mn-ea"/>
              </a:rPr>
              <a:t>Շնորհակալություն ուշադրության համար</a:t>
            </a:r>
            <a:endParaRPr lang="en-US" altLang="en-US" sz="48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2215</Words>
  <Application>WPS Presentation</Application>
  <PresentationFormat>Widescreen</PresentationFormat>
  <Paragraphs>143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Arial</vt:lpstr>
      <vt:lpstr>SimSun</vt:lpstr>
      <vt:lpstr>Wingdings</vt:lpstr>
      <vt:lpstr>Wingdings</vt:lpstr>
      <vt:lpstr>Cambria Math</vt:lpstr>
      <vt:lpstr>Calibri</vt:lpstr>
      <vt:lpstr>Microsoft YaHei</vt:lpstr>
      <vt:lpstr>Arial Unicode MS</vt:lpstr>
      <vt:lpstr>WPS</vt:lpstr>
      <vt:lpstr>Մեքենայական ուսուցման կիրառումը օպտիկական մանրաթելով ստացվող բազմամոդային ինտերֆերենցի վերլուծության մեջ</vt:lpstr>
      <vt:lpstr>1. Թեմայի արդիականությունը</vt:lpstr>
      <vt:lpstr>2. Հետազոտության նպատակը և առաջարկվող մեթոդները</vt:lpstr>
      <vt:lpstr>3.Խնդրի դրվածքը</vt:lpstr>
      <vt:lpstr>3.Խնդրի դրվածքը</vt:lpstr>
      <vt:lpstr>3.Խնդրի դրվածքը</vt:lpstr>
      <vt:lpstr>4. Փորձնական տվյալները</vt:lpstr>
      <vt:lpstr>4. Փորձնական տվյալները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 Ստացված արդյունքների քննարկումը</vt:lpstr>
      <vt:lpstr>PowerPoint 演示文稿</vt:lpstr>
      <vt:lpstr>PowerPoint 演示文稿</vt:lpstr>
      <vt:lpstr>5. Ստացված արդյունքների քննարկումը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CNN-код (PyTorch, frame-level, multi-output regression)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 Ստացված արդյունքների քննարկումը</vt:lpstr>
      <vt:lpstr>6. Եզրակացություն և հետագա անելիքներ</vt:lpstr>
      <vt:lpstr>7. Գրականություն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Նեյրոնային ցանցերի կիրառումը օպտիկական մանրաթելով ստացվող  բազմամոդ ինտերֆերենցի վերլուծության մեջ</dc:title>
  <dc:creator/>
  <cp:lastModifiedBy>Smbat Poghosyan</cp:lastModifiedBy>
  <cp:revision>27</cp:revision>
  <dcterms:created xsi:type="dcterms:W3CDTF">2026-09-18T14:40:00Z</dcterms:created>
  <dcterms:modified xsi:type="dcterms:W3CDTF">2026-09-25T05:03:15Z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ADEE7E8C19214E74A4220CCC64D56082_13</vt:lpwstr>
  </property>
</Properties>
</file>